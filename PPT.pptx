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4"/>
  </p:notesMasterIdLst>
  <p:sldIdLst>
    <p:sldId id="263" r:id="rId3"/>
    <p:sldId id="280" r:id="rId4"/>
    <p:sldId id="264" r:id="rId5"/>
    <p:sldId id="265" r:id="rId6"/>
    <p:sldId id="277" r:id="rId7"/>
    <p:sldId id="269" r:id="rId8"/>
    <p:sldId id="270" r:id="rId9"/>
    <p:sldId id="272" r:id="rId10"/>
    <p:sldId id="279" r:id="rId11"/>
    <p:sldId id="275"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72AABE-BEBC-43F8-892E-3C881BBE2885}">
          <p14:sldIdLst>
            <p14:sldId id="263"/>
            <p14:sldId id="280"/>
            <p14:sldId id="264"/>
            <p14:sldId id="265"/>
            <p14:sldId id="277"/>
            <p14:sldId id="269"/>
            <p14:sldId id="270"/>
            <p14:sldId id="272"/>
            <p14:sldId id="279"/>
            <p14:sldId id="275"/>
            <p14:sldId id="25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9749"/>
    <a:srgbClr val="632523"/>
    <a:srgbClr val="EEECE1"/>
    <a:srgbClr val="FAFAFA"/>
    <a:srgbClr val="FFFFCC"/>
    <a:srgbClr val="FFFFFF"/>
    <a:srgbClr val="5B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howGuides="1">
      <p:cViewPr varScale="1">
        <p:scale>
          <a:sx n="78" d="100"/>
          <a:sy n="78" d="100"/>
        </p:scale>
        <p:origin x="715"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Shivaswamy" userId="86d7c246029051df" providerId="LiveId" clId="{EC84AC3E-40DD-475C-8396-E4D249618CD7}"/>
    <pc:docChg chg="modSld">
      <pc:chgData name="Abhishek Shivaswamy" userId="86d7c246029051df" providerId="LiveId" clId="{EC84AC3E-40DD-475C-8396-E4D249618CD7}" dt="2025-02-07T05:22:43.700" v="0" actId="20577"/>
      <pc:docMkLst>
        <pc:docMk/>
      </pc:docMkLst>
      <pc:sldChg chg="modSp mod">
        <pc:chgData name="Abhishek Shivaswamy" userId="86d7c246029051df" providerId="LiveId" clId="{EC84AC3E-40DD-475C-8396-E4D249618CD7}" dt="2025-02-07T05:22:43.700" v="0" actId="20577"/>
        <pc:sldMkLst>
          <pc:docMk/>
          <pc:sldMk cId="0" sldId="264"/>
        </pc:sldMkLst>
        <pc:spChg chg="mod">
          <ac:chgData name="Abhishek Shivaswamy" userId="86d7c246029051df" providerId="LiveId" clId="{EC84AC3E-40DD-475C-8396-E4D249618CD7}" dt="2025-02-07T05:22:43.700" v="0" actId="20577"/>
          <ac:spMkLst>
            <pc:docMk/>
            <pc:sldMk cId="0" sldId="26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B542-D87F-482D-A7FF-4601A0EF413B}"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2B07B5-2230-4BA0-B62F-6320918FF3D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2B07B5-2230-4BA0-B62F-6320918FF3D1}" type="slidenum">
              <a:rPr lang="en-US" smtClean="0"/>
              <a:t>1</a:t>
            </a:fld>
            <a:endParaRPr lang="en-US"/>
          </a:p>
        </p:txBody>
      </p:sp>
    </p:spTree>
    <p:extLst>
      <p:ext uri="{BB962C8B-B14F-4D97-AF65-F5344CB8AC3E}">
        <p14:creationId xmlns:p14="http://schemas.microsoft.com/office/powerpoint/2010/main" val="758448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05-02-2025 </a:t>
            </a:r>
          </a:p>
        </p:txBody>
      </p:sp>
      <p:sp>
        <p:nvSpPr>
          <p:cNvPr id="8" name="Footer Placeholder 7"/>
          <p:cNvSpPr>
            <a:spLocks noGrp="1"/>
          </p:cNvSpPr>
          <p:nvPr>
            <p:ph type="ftr" sz="quarter" idx="11"/>
          </p:nvPr>
        </p:nvSpPr>
        <p:spPr/>
        <p:txBody>
          <a:bodyPr/>
          <a:lstStyle/>
          <a:p>
            <a:r>
              <a:rPr lang="en-US"/>
              <a:t>Faculty of Engineering and Technology</a:t>
            </a:r>
          </a:p>
        </p:txBody>
      </p:sp>
      <p:sp>
        <p:nvSpPr>
          <p:cNvPr id="9" name="Slide Number Placeholder 8"/>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05-02-2025 </a:t>
            </a:r>
          </a:p>
        </p:txBody>
      </p:sp>
      <p:sp>
        <p:nvSpPr>
          <p:cNvPr id="4" name="Footer Placeholder 3"/>
          <p:cNvSpPr>
            <a:spLocks noGrp="1"/>
          </p:cNvSpPr>
          <p:nvPr>
            <p:ph type="ftr" sz="quarter" idx="11"/>
          </p:nvPr>
        </p:nvSpPr>
        <p:spPr/>
        <p:txBody>
          <a:bodyPr/>
          <a:lstStyle/>
          <a:p>
            <a:r>
              <a:rPr lang="en-US"/>
              <a:t>Faculty of Engineering and Technology</a:t>
            </a:r>
          </a:p>
        </p:txBody>
      </p:sp>
      <p:sp>
        <p:nvSpPr>
          <p:cNvPr id="5" name="Slide Number Placeholder 4"/>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05-02-2025 </a:t>
            </a:r>
          </a:p>
        </p:txBody>
      </p:sp>
      <p:sp>
        <p:nvSpPr>
          <p:cNvPr id="3" name="Footer Placeholder 2"/>
          <p:cNvSpPr>
            <a:spLocks noGrp="1"/>
          </p:cNvSpPr>
          <p:nvPr>
            <p:ph type="ftr" sz="quarter" idx="11"/>
          </p:nvPr>
        </p:nvSpPr>
        <p:spPr/>
        <p:txBody>
          <a:bodyPr/>
          <a:lstStyle/>
          <a:p>
            <a:r>
              <a:rPr lang="en-US"/>
              <a:t>Faculty of Engineering and Technology</a:t>
            </a:r>
          </a:p>
        </p:txBody>
      </p:sp>
      <p:sp>
        <p:nvSpPr>
          <p:cNvPr id="4" name="Slide Number Placeholder 3"/>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05-02-2025 </a:t>
            </a:r>
          </a:p>
        </p:txBody>
      </p:sp>
      <p:sp>
        <p:nvSpPr>
          <p:cNvPr id="6" name="Footer Placeholder 5"/>
          <p:cNvSpPr>
            <a:spLocks noGrp="1"/>
          </p:cNvSpPr>
          <p:nvPr>
            <p:ph type="ftr" sz="quarter" idx="11"/>
          </p:nvPr>
        </p:nvSpPr>
        <p:spPr/>
        <p:txBody>
          <a:bodyPr/>
          <a:lstStyle/>
          <a:p>
            <a:r>
              <a:rPr lang="en-US"/>
              <a:t>Faculty of Engineering and Technology</a:t>
            </a:r>
          </a:p>
        </p:txBody>
      </p:sp>
      <p:sp>
        <p:nvSpPr>
          <p:cNvPr id="7" name="Slide Number Placeholder 6"/>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05-02-2025 </a:t>
            </a:r>
          </a:p>
        </p:txBody>
      </p:sp>
      <p:sp>
        <p:nvSpPr>
          <p:cNvPr id="5" name="Footer Placeholder 4"/>
          <p:cNvSpPr>
            <a:spLocks noGrp="1"/>
          </p:cNvSpPr>
          <p:nvPr>
            <p:ph type="ftr" sz="quarter" idx="11"/>
          </p:nvPr>
        </p:nvSpPr>
        <p:spPr/>
        <p:txBody>
          <a:bodyPr/>
          <a:lstStyle/>
          <a:p>
            <a:r>
              <a:rPr lang="en-US"/>
              <a:t>Faculty of Engineering and Technology</a:t>
            </a:r>
          </a:p>
        </p:txBody>
      </p:sp>
      <p:sp>
        <p:nvSpPr>
          <p:cNvPr id="6" name="Slide Number Placeholder 5"/>
          <p:cNvSpPr>
            <a:spLocks noGrp="1"/>
          </p:cNvSpPr>
          <p:nvPr>
            <p:ph type="sldNum" sz="quarter" idx="12"/>
          </p:nvPr>
        </p:nvSpPr>
        <p:spPr/>
        <p:txBody>
          <a:bodyPr/>
          <a:lstStyle/>
          <a:p>
            <a:fld id="{9FDC911C-A319-4FC6-9017-944A3A3C776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05-02-2025 </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of Engineering and Technology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DC911C-A319-4FC6-9017-944A3A3C776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7" name="Title 1">
            <a:extLst>
              <a:ext uri="{FF2B5EF4-FFF2-40B4-BE49-F238E27FC236}">
                <a16:creationId xmlns:a16="http://schemas.microsoft.com/office/drawing/2014/main" id="{E218EFDF-FA19-2E24-3B90-31C017644C23}"/>
              </a:ext>
            </a:extLst>
          </p:cNvPr>
          <p:cNvSpPr>
            <a:spLocks noGrp="1"/>
          </p:cNvSpPr>
          <p:nvPr>
            <p:ph type="ctrTitle"/>
          </p:nvPr>
        </p:nvSpPr>
        <p:spPr>
          <a:xfrm>
            <a:off x="2353074" y="1338531"/>
            <a:ext cx="7948593" cy="2061839"/>
          </a:xfrm>
        </p:spPr>
        <p:txBody>
          <a:bodyPr>
            <a:noAutofit/>
          </a:bodyPr>
          <a:lstStyle/>
          <a:p>
            <a:pPr>
              <a:lnSpc>
                <a:spcPct val="150000"/>
              </a:lnSpc>
            </a:pPr>
            <a:r>
              <a:rPr lang="en-US" sz="3200" b="1" dirty="0">
                <a:latin typeface="Times New Roman" panose="02020603050405020304" pitchFamily="18" charset="0"/>
                <a:cs typeface="Times New Roman" panose="02020603050405020304" pitchFamily="18" charset="0"/>
              </a:rPr>
              <a:t>B.TECH IN CSE</a:t>
            </a:r>
            <a:br>
              <a:rPr lang="en-US" sz="3200" b="1" dirty="0">
                <a:latin typeface="Times New Roman" panose="02020603050405020304" pitchFamily="18" charset="0"/>
                <a:cs typeface="Times New Roman" panose="02020603050405020304" pitchFamily="18" charset="0"/>
              </a:rPr>
            </a:br>
            <a:r>
              <a:rPr lang="en-US" sz="3200" b="1" dirty="0">
                <a:solidFill>
                  <a:schemeClr val="tx2">
                    <a:lumMod val="75000"/>
                    <a:lumOff val="25000"/>
                  </a:schemeClr>
                </a:solidFill>
                <a:latin typeface="Times New Roman" panose="02020603050405020304" pitchFamily="18" charset="0"/>
                <a:cs typeface="Times New Roman" panose="02020603050405020304" pitchFamily="18" charset="0"/>
              </a:rPr>
              <a:t>“Supply Chain Delivery Risk Prediction</a:t>
            </a:r>
            <a:r>
              <a:rPr lang="en-IN" sz="3200" b="1" dirty="0">
                <a:solidFill>
                  <a:schemeClr val="tx2">
                    <a:lumMod val="75000"/>
                    <a:lumOff val="25000"/>
                  </a:schemeClr>
                </a:solidFill>
                <a:latin typeface="Times New Roman" panose="02020603050405020304" pitchFamily="18" charset="0"/>
                <a:cs typeface="Times New Roman" panose="02020603050405020304" pitchFamily="18" charset="0"/>
              </a:rPr>
              <a:t>”</a:t>
            </a:r>
            <a:endParaRPr lang="en-US" sz="3200" b="1" dirty="0">
              <a:solidFill>
                <a:schemeClr val="tx2">
                  <a:lumMod val="75000"/>
                  <a:lumOff val="25000"/>
                </a:schemeClr>
              </a:solidFill>
              <a:latin typeface="Times New Roman" panose="02020603050405020304" pitchFamily="18" charset="0"/>
              <a:ea typeface="Calibri"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4902ACBB-D2BF-D229-A02A-094762454B67}"/>
              </a:ext>
            </a:extLst>
          </p:cNvPr>
          <p:cNvSpPr/>
          <p:nvPr/>
        </p:nvSpPr>
        <p:spPr>
          <a:xfrm>
            <a:off x="0" y="4317"/>
            <a:ext cx="12192000" cy="1122364"/>
          </a:xfrm>
          <a:prstGeom prst="rect">
            <a:avLst/>
          </a:prstGeom>
          <a:solidFill>
            <a:srgbClr val="5B1F1F"/>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4FBBBD3-CAF3-864D-4D07-17D1ACA8B77B}"/>
              </a:ext>
            </a:extLst>
          </p:cNvPr>
          <p:cNvSpPr txBox="1"/>
          <p:nvPr/>
        </p:nvSpPr>
        <p:spPr>
          <a:xfrm>
            <a:off x="1604869" y="8589"/>
            <a:ext cx="8957188" cy="707886"/>
          </a:xfrm>
          <a:prstGeom prst="rect">
            <a:avLst/>
          </a:prstGeom>
          <a:noFill/>
        </p:spPr>
        <p:txBody>
          <a:bodyPr wrap="square">
            <a:spAutoFit/>
          </a:bodyPr>
          <a:lstStyle/>
          <a:p>
            <a:pPr algn="r"/>
            <a:r>
              <a:rPr lang="en-US" sz="4000" dirty="0">
                <a:solidFill>
                  <a:srgbClr val="CA9749"/>
                </a:solidFill>
                <a:latin typeface="Bodoni MT" panose="02070603080606020203" pitchFamily="18" charset="0"/>
                <a:cs typeface="Aldhabi" panose="020F0502020204030204" pitchFamily="2" charset="-78"/>
              </a:rPr>
              <a:t>RAI TECHNOLOGY UNIVERSITY </a:t>
            </a:r>
          </a:p>
        </p:txBody>
      </p:sp>
      <p:sp>
        <p:nvSpPr>
          <p:cNvPr id="30" name="TextBox 29">
            <a:extLst>
              <a:ext uri="{FF2B5EF4-FFF2-40B4-BE49-F238E27FC236}">
                <a16:creationId xmlns:a16="http://schemas.microsoft.com/office/drawing/2014/main" id="{E5C9F226-44E6-104A-9996-16AE0B20DA9F}"/>
              </a:ext>
            </a:extLst>
          </p:cNvPr>
          <p:cNvSpPr txBox="1"/>
          <p:nvPr/>
        </p:nvSpPr>
        <p:spPr>
          <a:xfrm>
            <a:off x="4881665" y="560790"/>
            <a:ext cx="2595716" cy="523220"/>
          </a:xfrm>
          <a:prstGeom prst="rect">
            <a:avLst/>
          </a:prstGeom>
          <a:noFill/>
        </p:spPr>
        <p:txBody>
          <a:bodyPr wrap="square">
            <a:spAutoFit/>
          </a:bodyPr>
          <a:lstStyle/>
          <a:p>
            <a:r>
              <a:rPr lang="en-US" sz="2800" dirty="0">
                <a:solidFill>
                  <a:srgbClr val="CA9749"/>
                </a:solidFill>
                <a:latin typeface="Bodoni MT" panose="02070603080606020203" pitchFamily="18" charset="0"/>
                <a:cs typeface="Aldhabi" panose="020F0502020204030204" pitchFamily="2" charset="-78"/>
              </a:rPr>
              <a:t>BANGALURU</a:t>
            </a:r>
            <a:endParaRPr lang="en-US" sz="2800" dirty="0"/>
          </a:p>
        </p:txBody>
      </p:sp>
      <p:sp>
        <p:nvSpPr>
          <p:cNvPr id="32" name="Rectangle 31">
            <a:extLst>
              <a:ext uri="{FF2B5EF4-FFF2-40B4-BE49-F238E27FC236}">
                <a16:creationId xmlns:a16="http://schemas.microsoft.com/office/drawing/2014/main" id="{3A41AB14-4B57-B571-6146-0014C34FFFC0}"/>
              </a:ext>
            </a:extLst>
          </p:cNvPr>
          <p:cNvSpPr/>
          <p:nvPr/>
        </p:nvSpPr>
        <p:spPr>
          <a:xfrm rot="10800000">
            <a:off x="0" y="6292500"/>
            <a:ext cx="12192000" cy="59978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7CBA4972-C040-9FB8-7DF7-19B4F4C1099C}"/>
              </a:ext>
            </a:extLst>
          </p:cNvPr>
          <p:cNvSpPr txBox="1"/>
          <p:nvPr/>
        </p:nvSpPr>
        <p:spPr>
          <a:xfrm>
            <a:off x="550505" y="3872851"/>
            <a:ext cx="11258037" cy="1477328"/>
          </a:xfrm>
          <a:prstGeom prst="rect">
            <a:avLst/>
          </a:prstGeom>
          <a:noFill/>
        </p:spPr>
        <p:txBody>
          <a:bodyPr wrap="square" rtlCol="0">
            <a:spAutoFit/>
          </a:bodyPr>
          <a:lstStyle/>
          <a:p>
            <a:r>
              <a:rPr lang="en-US" sz="2400" b="1" dirty="0">
                <a:solidFill>
                  <a:srgbClr val="C00000"/>
                </a:solidFill>
                <a:latin typeface="Times New Roman" panose="02020603050405020304" pitchFamily="18" charset="0"/>
                <a:cs typeface="Times New Roman" panose="02020603050405020304" pitchFamily="18" charset="0"/>
              </a:rPr>
              <a:t>Presented By:                                                                                            Submitted To:</a:t>
            </a:r>
          </a:p>
          <a:p>
            <a:r>
              <a:rPr lang="en-US" sz="2400" b="1" dirty="0">
                <a:solidFill>
                  <a:srgbClr val="C00000"/>
                </a:solidFill>
                <a:latin typeface="Times New Roman" panose="02020603050405020304" pitchFamily="18" charset="0"/>
                <a:cs typeface="Times New Roman" panose="02020603050405020304" pitchFamily="18" charset="0"/>
              </a:rPr>
              <a:t>KAVITA P                                                                                                 Mr. Abhishek S           </a:t>
            </a:r>
          </a:p>
          <a:p>
            <a:r>
              <a:rPr lang="en-US" sz="2400" b="1" dirty="0">
                <a:solidFill>
                  <a:srgbClr val="C00000"/>
                </a:solidFill>
                <a:latin typeface="Times New Roman" panose="02020603050405020304" pitchFamily="18" charset="0"/>
                <a:cs typeface="Times New Roman" panose="02020603050405020304" pitchFamily="18" charset="0"/>
              </a:rPr>
              <a:t>RTU24101CS050							         Project Guide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E2DA7-D028-B371-75D2-9B910C17DD6D}"/>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9D852AB0-C24A-AA13-CFCF-6C65D1CCFFAC}"/>
              </a:ext>
            </a:extLst>
          </p:cNvPr>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6EA21AD-3AD3-5D2F-549E-BC5827DAF4BB}"/>
              </a:ext>
            </a:extLst>
          </p:cNvPr>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CEBD60-EA0E-8E3B-99B9-414B1EF12046}"/>
              </a:ext>
            </a:extLst>
          </p:cNvPr>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a:extLst>
              <a:ext uri="{FF2B5EF4-FFF2-40B4-BE49-F238E27FC236}">
                <a16:creationId xmlns:a16="http://schemas.microsoft.com/office/drawing/2014/main" id="{CD98C2D6-9C6D-3C93-1A16-331577C6A5BA}"/>
              </a:ext>
            </a:extLst>
          </p:cNvPr>
          <p:cNvSpPr/>
          <p:nvPr/>
        </p:nvSpPr>
        <p:spPr>
          <a:xfrm>
            <a:off x="0" y="47882"/>
            <a:ext cx="12192800" cy="646331"/>
          </a:xfrm>
          <a:prstGeom prst="rect">
            <a:avLst/>
          </a:prstGeom>
        </p:spPr>
        <p:txBody>
          <a:bodyPr wrap="square">
            <a:spAutoFit/>
          </a:bodyPr>
          <a:lstStyle/>
          <a:p>
            <a:pPr algn="ctr"/>
            <a:r>
              <a:rPr lang="en-US" sz="3600" b="1" dirty="0">
                <a:solidFill>
                  <a:srgbClr val="C00000"/>
                </a:solidFill>
                <a:latin typeface="Times New Roman" panose="02020603050405020304" pitchFamily="18" charset="0"/>
                <a:ea typeface="Calibri" pitchFamily="34" charset="0"/>
                <a:cs typeface="Times New Roman" panose="02020603050405020304" pitchFamily="18" charset="0"/>
              </a:rPr>
              <a:t>CONTENT </a:t>
            </a:r>
          </a:p>
        </p:txBody>
      </p:sp>
      <p:sp>
        <p:nvSpPr>
          <p:cNvPr id="9" name="Rectangle 8">
            <a:extLst>
              <a:ext uri="{FF2B5EF4-FFF2-40B4-BE49-F238E27FC236}">
                <a16:creationId xmlns:a16="http://schemas.microsoft.com/office/drawing/2014/main" id="{89FA4375-32FA-D0AF-F7A9-9003AA57728E}"/>
              </a:ext>
            </a:extLst>
          </p:cNvPr>
          <p:cNvSpPr/>
          <p:nvPr/>
        </p:nvSpPr>
        <p:spPr>
          <a:xfrm>
            <a:off x="746448" y="998375"/>
            <a:ext cx="6044613" cy="4539191"/>
          </a:xfrm>
          <a:prstGeom prst="rect">
            <a:avLst/>
          </a:prstGeom>
        </p:spPr>
        <p:txBody>
          <a:bodyPr wrap="square">
            <a:spAutoFit/>
          </a:bodyPr>
          <a:lstStyle/>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Problem Statement</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Literature Survey</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Proposed Solution and Methodology</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Solution Development </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Scalability&amp; Performance analysis</a:t>
            </a:r>
          </a:p>
          <a:p>
            <a:pPr algn="just">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Conclusion</a:t>
            </a:r>
          </a:p>
        </p:txBody>
      </p:sp>
    </p:spTree>
    <p:extLst>
      <p:ext uri="{BB962C8B-B14F-4D97-AF65-F5344CB8AC3E}">
        <p14:creationId xmlns:p14="http://schemas.microsoft.com/office/powerpoint/2010/main" val="118440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85192"/>
            <a:ext cx="12192800" cy="646331"/>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INTRODUCTION</a:t>
            </a:r>
            <a:r>
              <a:rPr lang="en-US" sz="3600" b="1" dirty="0">
                <a:solidFill>
                  <a:srgbClr val="C00000"/>
                </a:solidFill>
                <a:latin typeface="Calibri" pitchFamily="34" charset="0"/>
                <a:ea typeface="Calibri" pitchFamily="34" charset="0"/>
                <a:cs typeface="Calibri" pitchFamily="34" charset="0"/>
              </a:rPr>
              <a:t> </a:t>
            </a:r>
          </a:p>
        </p:txBody>
      </p:sp>
      <p:sp>
        <p:nvSpPr>
          <p:cNvPr id="3" name="Text Box 2"/>
          <p:cNvSpPr txBox="1"/>
          <p:nvPr/>
        </p:nvSpPr>
        <p:spPr>
          <a:xfrm>
            <a:off x="668655" y="1395743"/>
            <a:ext cx="10854690" cy="4184015"/>
          </a:xfrm>
          <a:prstGeom prst="rect">
            <a:avLst/>
          </a:prstGeom>
          <a:noFill/>
        </p:spPr>
        <p:txBody>
          <a:bodyPr wrap="square" rtlCol="0">
            <a:noAutofit/>
          </a:bodyPr>
          <a:lstStyle/>
          <a:p>
            <a:r>
              <a:rPr lang="en-IN" sz="3200" dirty="0">
                <a:latin typeface="Times New Roman" panose="02020603050405020304" pitchFamily="18" charset="0"/>
                <a:cs typeface="Times New Roman" panose="02020603050405020304" pitchFamily="18" charset="0"/>
              </a:rPr>
              <a:t>Reliable delivery performance is central to business operations across e-commerce, logistics, and warehousing. Late deliveries erode customer satisfaction, increase operational cost, and force businesses into reactive damage control after the fact. As order volumes grow and supply chains span multiple regions, shipping modes, and warehouses, predicting delivery risk before an order is dispatched becomes essential for maintaining customer trust and controlling cost.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1200329"/>
          </a:xfrm>
          <a:prstGeom prst="rect">
            <a:avLst/>
          </a:prstGeom>
        </p:spPr>
        <p:txBody>
          <a:bodyPr wrap="square">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PROBLEM STATEMENT</a:t>
            </a:r>
            <a:endParaRPr lang="en-US" sz="3600" b="1" dirty="0">
              <a:solidFill>
                <a:srgbClr val="C00000"/>
              </a:solidFill>
              <a:latin typeface="Times New Roman" panose="02020603050405020304" pitchFamily="18" charset="0"/>
              <a:cs typeface="Times New Roman" panose="02020603050405020304" pitchFamily="18" charset="0"/>
            </a:endParaRPr>
          </a:p>
          <a:p>
            <a:pPr algn="ctr"/>
            <a:r>
              <a:rPr lang="en-US" sz="3600" b="1" dirty="0">
                <a:solidFill>
                  <a:srgbClr val="C00000"/>
                </a:solidFill>
                <a:latin typeface="Calibri" pitchFamily="34" charset="0"/>
                <a:ea typeface="Calibri" pitchFamily="34" charset="0"/>
                <a:cs typeface="Calibri" pitchFamily="34" charset="0"/>
              </a:rPr>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3" name="Text Box 2"/>
          <p:cNvSpPr txBox="1"/>
          <p:nvPr/>
        </p:nvSpPr>
        <p:spPr>
          <a:xfrm>
            <a:off x="767715" y="1601470"/>
            <a:ext cx="10587355" cy="4010025"/>
          </a:xfrm>
          <a:prstGeom prst="rect">
            <a:avLst/>
          </a:prstGeom>
          <a:noFill/>
        </p:spPr>
        <p:txBody>
          <a:bodyPr wrap="square" rtlCol="0">
            <a:noAutofit/>
          </a:bodyPr>
          <a:lstStyle/>
          <a:p>
            <a:pPr algn="just"/>
            <a:r>
              <a:rPr lang="en-IN" sz="3200" dirty="0">
                <a:latin typeface="Times New Roman" panose="02020603050405020304" pitchFamily="18" charset="0"/>
                <a:cs typeface="Times New Roman" panose="02020603050405020304" pitchFamily="18" charset="0"/>
              </a:rPr>
              <a:t>Conventional delivery-tracking systems often flag risk only after a delay has already occurred, leaving little room for preventive action. These systems are reactive by design: alerts arrive once the delay is already in progress, corrective action comes too late, and staff rely on manual judgement and informal rules of thumb rather than data-driven prediction. As a result, the customer is typically informed only after the delivery promise has already been broken.</a:t>
            </a:r>
          </a:p>
          <a:p>
            <a:pPr algn="just"/>
            <a:endParaRPr lang="en-US" altLang="en-US" sz="3200" dirty="0">
              <a:solidFill>
                <a:schemeClr val="tx1"/>
              </a:solidFill>
              <a:latin typeface="Times New Roman Regular" panose="02020603050405020304" charset="0"/>
              <a:cs typeface="Times New Roman Regular"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0" y="401216"/>
            <a:ext cx="12192800" cy="645160"/>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LITERATURE SURVEY</a:t>
            </a:r>
            <a:r>
              <a:rPr lang="en-US" sz="3600" b="1" dirty="0">
                <a:solidFill>
                  <a:srgbClr val="C00000"/>
                </a:solidFill>
                <a:latin typeface="Calibri" pitchFamily="34" charset="0"/>
                <a:ea typeface="Calibri" pitchFamily="34" charset="0"/>
                <a:cs typeface="Calibri" pitchFamily="34" charset="0"/>
              </a:rPr>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4" name="Text Box 3"/>
          <p:cNvSpPr txBox="1"/>
          <p:nvPr/>
        </p:nvSpPr>
        <p:spPr>
          <a:xfrm>
            <a:off x="1024255" y="924233"/>
            <a:ext cx="9819640" cy="4458028"/>
          </a:xfrm>
          <a:prstGeom prst="rect">
            <a:avLst/>
          </a:prstGeom>
          <a:noFill/>
        </p:spPr>
        <p:txBody>
          <a:bodyPr wrap="square" rtlCol="0">
            <a:noAutofit/>
          </a:bodyPr>
          <a:lstStyle/>
          <a:p>
            <a:r>
              <a:rPr lang="en-IN" sz="3200" b="1" dirty="0">
                <a:latin typeface="Times New Roman" panose="02020603050405020304" pitchFamily="18" charset="0"/>
                <a:cs typeface="Times New Roman" panose="02020603050405020304" pitchFamily="18" charset="0"/>
              </a:rPr>
              <a:t>Ensemble Methods: Bagging</a:t>
            </a:r>
            <a:endParaRPr lang="en-IN" sz="3200" dirty="0">
              <a:latin typeface="Times New Roman" panose="02020603050405020304" pitchFamily="18" charset="0"/>
              <a:cs typeface="Times New Roman" panose="02020603050405020304" pitchFamily="18" charset="0"/>
            </a:endParaRPr>
          </a:p>
          <a:p>
            <a:r>
              <a:rPr lang="en-IN" sz="3200" dirty="0" err="1">
                <a:latin typeface="Times New Roman" panose="02020603050405020304" pitchFamily="18" charset="0"/>
                <a:cs typeface="Times New Roman" panose="02020603050405020304" pitchFamily="18" charset="0"/>
              </a:rPr>
              <a:t>Breiman</a:t>
            </a:r>
            <a:r>
              <a:rPr lang="en-IN" sz="3200" dirty="0">
                <a:latin typeface="Times New Roman" panose="02020603050405020304" pitchFamily="18" charset="0"/>
                <a:cs typeface="Times New Roman" panose="02020603050405020304" pitchFamily="18" charset="0"/>
              </a:rPr>
              <a:t> (2001) introduced Random Forests, an ensemble of decision trees trained on bootstrapped samples with random feature subsets, showing that averaging many de-correlated trees reduces variance and improves generalization compared to a single decision tree.</a:t>
            </a:r>
          </a:p>
          <a:p>
            <a:r>
              <a:rPr lang="en-IN" sz="3200" b="1" dirty="0">
                <a:latin typeface="Times New Roman" panose="02020603050405020304" pitchFamily="18" charset="0"/>
                <a:cs typeface="Times New Roman" panose="02020603050405020304" pitchFamily="18" charset="0"/>
              </a:rPr>
              <a:t>Ensemble Methods: Boosting</a:t>
            </a: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Friedman (2001) proposed Gradient Boosting, which builds trees sequentially, with each new tree fitted to the residual errors of the previous ensemble, often achieving higher accuracy at the cost of longer training time and greater sensitivity to overfitting on small datasets.</a:t>
            </a:r>
          </a:p>
          <a:p>
            <a:pPr marL="457200" indent="-457200" algn="just">
              <a:buFont typeface="Arial" panose="020B0604020202020204" pitchFamily="34" charset="0"/>
              <a:buChar char="•"/>
            </a:pPr>
            <a:endParaRPr lang="en-US" altLang="en-US" sz="7200" dirty="0">
              <a:solidFill>
                <a:schemeClr val="tx1"/>
              </a:solidFill>
              <a:latin typeface="Times New Roman Regular" panose="02020603050405020304" charset="0"/>
              <a:cs typeface="Times New Roman Regular"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298022" y="395851"/>
            <a:ext cx="11019454" cy="1077218"/>
          </a:xfrm>
          <a:prstGeom prst="rect">
            <a:avLst/>
          </a:prstGeom>
        </p:spPr>
        <p:txBody>
          <a:bodyPr wrap="square">
            <a:spAutoFit/>
          </a:bodyPr>
          <a:lstStyle/>
          <a:p>
            <a:pPr algn="ctr"/>
            <a:r>
              <a:rPr lang="en-IN" sz="3200" b="1" dirty="0">
                <a:solidFill>
                  <a:srgbClr val="C00000"/>
                </a:solidFill>
                <a:latin typeface="Times New Roman" panose="02020603050405020304" pitchFamily="18" charset="0"/>
                <a:cs typeface="Times New Roman" panose="02020603050405020304" pitchFamily="18" charset="0"/>
              </a:rPr>
              <a:t>PROPOSED SOLOUTION AND METHODOLOGY</a:t>
            </a:r>
            <a:endParaRPr lang="en-US" sz="3200" dirty="0">
              <a:solidFill>
                <a:srgbClr val="C00000"/>
              </a:solidFill>
              <a:latin typeface="Times New Roman" panose="02020603050405020304" pitchFamily="18" charset="0"/>
              <a:cs typeface="Times New Roman" panose="02020603050405020304" pitchFamily="18" charset="0"/>
            </a:endParaRPr>
          </a:p>
          <a:p>
            <a:pPr algn="ctr"/>
            <a:r>
              <a:rPr lang="en-US" sz="3200" b="1" dirty="0">
                <a:solidFill>
                  <a:srgbClr val="C00000"/>
                </a:solidFill>
                <a:latin typeface="Calibri" pitchFamily="34" charset="0"/>
                <a:ea typeface="Calibri" pitchFamily="34" charset="0"/>
                <a:cs typeface="Calibri" pitchFamily="34" charset="0"/>
              </a:rPr>
              <a:t> </a:t>
            </a:r>
            <a:endParaRPr lang="en-US" sz="3600" b="1" dirty="0">
              <a:solidFill>
                <a:srgbClr val="C00000"/>
              </a:solidFill>
              <a:latin typeface="Calibri" pitchFamily="34" charset="0"/>
              <a:ea typeface="Calibri" pitchFamily="34" charset="0"/>
              <a:cs typeface="Calibri" pitchFamily="34"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6" name="Text Box 15"/>
          <p:cNvSpPr txBox="1"/>
          <p:nvPr/>
        </p:nvSpPr>
        <p:spPr>
          <a:xfrm>
            <a:off x="640481" y="1499142"/>
            <a:ext cx="11216640" cy="5662295"/>
          </a:xfrm>
          <a:prstGeom prst="rect">
            <a:avLst/>
          </a:prstGeom>
          <a:noFill/>
        </p:spPr>
        <p:txBody>
          <a:bodyPr wrap="square" rtlCol="0">
            <a:noAutofit/>
          </a:bodyPr>
          <a:lstStyle/>
          <a:p>
            <a:pPr lvl="0"/>
            <a:r>
              <a:rPr lang="en-IN" sz="3200" dirty="0">
                <a:latin typeface="Times New Roman" panose="02020603050405020304" pitchFamily="18" charset="0"/>
                <a:cs typeface="Times New Roman" panose="02020603050405020304" pitchFamily="18" charset="0"/>
              </a:rPr>
              <a:t>Data preprocessing and feature preparation.</a:t>
            </a:r>
          </a:p>
          <a:p>
            <a:pPr lvl="0"/>
            <a:r>
              <a:rPr lang="en-IN" sz="3200" dirty="0">
                <a:latin typeface="Times New Roman" panose="02020603050405020304" pitchFamily="18" charset="0"/>
                <a:cs typeface="Times New Roman" panose="02020603050405020304" pitchFamily="18" charset="0"/>
              </a:rPr>
              <a:t> </a:t>
            </a:r>
          </a:p>
          <a:p>
            <a:pPr lvl="0"/>
            <a:r>
              <a:rPr lang="en-IN" sz="3200" dirty="0">
                <a:latin typeface="Times New Roman" panose="02020603050405020304" pitchFamily="18" charset="0"/>
                <a:cs typeface="Times New Roman" panose="02020603050405020304" pitchFamily="18" charset="0"/>
              </a:rPr>
              <a:t>Predict late-delivery risk before dispatch. </a:t>
            </a:r>
          </a:p>
          <a:p>
            <a:pPr lvl="0"/>
            <a:endParaRPr lang="en-IN" sz="3200" dirty="0">
              <a:latin typeface="Times New Roman" panose="02020603050405020304" pitchFamily="18" charset="0"/>
              <a:cs typeface="Times New Roman" panose="02020603050405020304" pitchFamily="18" charset="0"/>
            </a:endParaRPr>
          </a:p>
          <a:p>
            <a:pPr lvl="0"/>
            <a:r>
              <a:rPr lang="en-IN" sz="3200" dirty="0">
                <a:latin typeface="Times New Roman" panose="02020603050405020304" pitchFamily="18" charset="0"/>
                <a:cs typeface="Times New Roman" panose="02020603050405020304" pitchFamily="18" charset="0"/>
              </a:rPr>
              <a:t>Compare three ML models. </a:t>
            </a:r>
          </a:p>
          <a:p>
            <a:pPr lvl="0"/>
            <a:endParaRPr lang="en-IN" sz="3200" dirty="0">
              <a:latin typeface="Times New Roman" panose="02020603050405020304" pitchFamily="18" charset="0"/>
              <a:cs typeface="Times New Roman" panose="02020603050405020304" pitchFamily="18" charset="0"/>
            </a:endParaRPr>
          </a:p>
          <a:p>
            <a:pPr lvl="0"/>
            <a:r>
              <a:rPr lang="en-IN" sz="3200" dirty="0">
                <a:latin typeface="Times New Roman" panose="02020603050405020304" pitchFamily="18" charset="0"/>
                <a:cs typeface="Times New Roman" panose="02020603050405020304" pitchFamily="18" charset="0"/>
              </a:rPr>
              <a:t>Evaluate model performance. </a:t>
            </a:r>
          </a:p>
          <a:p>
            <a:pPr lvl="0"/>
            <a:endParaRPr lang="en-IN" sz="3200" dirty="0">
              <a:latin typeface="Times New Roman" panose="02020603050405020304" pitchFamily="18" charset="0"/>
              <a:cs typeface="Times New Roman" panose="02020603050405020304" pitchFamily="18" charset="0"/>
            </a:endParaRPr>
          </a:p>
          <a:p>
            <a:pPr lvl="0"/>
            <a:r>
              <a:rPr lang="en-IN" sz="3200" dirty="0">
                <a:latin typeface="Times New Roman" panose="02020603050405020304" pitchFamily="18" charset="0"/>
                <a:cs typeface="Times New Roman" panose="02020603050405020304" pitchFamily="18" charset="0"/>
              </a:rPr>
              <a:t>Use the best model for prediction. </a:t>
            </a:r>
          </a:p>
          <a:p>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4" name="Rectangle 13"/>
          <p:cNvSpPr/>
          <p:nvPr/>
        </p:nvSpPr>
        <p:spPr>
          <a:xfrm>
            <a:off x="0" y="401216"/>
            <a:ext cx="12192800" cy="645160"/>
          </a:xfrm>
          <a:prstGeom prst="rect">
            <a:avLst/>
          </a:prstGeom>
        </p:spPr>
        <p:txBody>
          <a:bodyPr wrap="square">
            <a:spAutoFit/>
          </a:bodyPr>
          <a:lstStyle/>
          <a:p>
            <a:pPr algn="ctr"/>
            <a:r>
              <a:rPr lang="en-US" sz="3600" b="1" dirty="0">
                <a:solidFill>
                  <a:srgbClr val="C00000"/>
                </a:solidFill>
                <a:latin typeface="Times New Roman" panose="02020603050405020304" pitchFamily="18" charset="0"/>
                <a:cs typeface="Times New Roman" panose="02020603050405020304" pitchFamily="18" charset="0"/>
              </a:rPr>
              <a:t>SOLUTION DEVELOPMENT</a:t>
            </a:r>
            <a:r>
              <a:rPr lang="en-US" sz="3600" b="1" dirty="0">
                <a:solidFill>
                  <a:srgbClr val="C00000"/>
                </a:solidFill>
                <a:latin typeface="Calibri" pitchFamily="34" charset="0"/>
                <a:ea typeface="Calibri" pitchFamily="34" charset="0"/>
                <a:cs typeface="Calibri" pitchFamily="34" charset="0"/>
              </a:rPr>
              <a:t> </a:t>
            </a:r>
          </a:p>
        </p:txBody>
      </p:sp>
      <p:sp>
        <p:nvSpPr>
          <p:cNvPr id="11" name="Text Box 10"/>
          <p:cNvSpPr txBox="1"/>
          <p:nvPr/>
        </p:nvSpPr>
        <p:spPr>
          <a:xfrm>
            <a:off x="550545" y="1470025"/>
            <a:ext cx="10977245" cy="5387975"/>
          </a:xfrm>
          <a:prstGeom prst="rect">
            <a:avLst/>
          </a:prstGeom>
          <a:noFill/>
        </p:spPr>
        <p:txBody>
          <a:bodyPr wrap="square" rtlCol="0">
            <a:noAutofit/>
          </a:bodyPr>
          <a:lstStyle/>
          <a:p>
            <a:r>
              <a:rPr lang="en-IN" sz="3200" dirty="0">
                <a:latin typeface="Times New Roman" panose="02020603050405020304" pitchFamily="18" charset="0"/>
                <a:cs typeface="Times New Roman" panose="02020603050405020304" pitchFamily="18" charset="0"/>
              </a:rPr>
              <a:t>The solution was implemented in Python using scikit-learn pipelines, so that identical preprocessing is applied consistently across training, testing, and future predictions. The core stages are data loading, preprocessing, model training for all three algorithms, and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10" name="Text 0"/>
          <p:cNvSpPr/>
          <p:nvPr/>
        </p:nvSpPr>
        <p:spPr>
          <a:xfrm>
            <a:off x="550545" y="254000"/>
            <a:ext cx="9678670" cy="2264410"/>
          </a:xfrm>
          <a:prstGeom prst="rect">
            <a:avLst/>
          </a:prstGeom>
          <a:noFill/>
        </p:spPr>
        <p:txBody>
          <a:bodyPr wrap="square" lIns="0" tIns="0" rIns="0" bIns="0" rtlCol="0" anchor="t"/>
          <a:lstStyle/>
          <a:p>
            <a:pPr marL="0" indent="0">
              <a:lnSpc>
                <a:spcPts val="5050"/>
              </a:lnSpc>
              <a:buNone/>
            </a:pPr>
            <a:endParaRPr lang="en-US" altLang="en-US" sz="2800" b="1" dirty="0">
              <a:solidFill>
                <a:srgbClr val="C00000"/>
              </a:solidFill>
              <a:latin typeface="Times New Roman Bold" panose="02020603050405020304" charset="0"/>
              <a:cs typeface="Times New Roman Bold" panose="02020603050405020304" charset="0"/>
            </a:endParaRPr>
          </a:p>
        </p:txBody>
      </p:sp>
      <p:pic>
        <p:nvPicPr>
          <p:cNvPr id="4" name="Picture 3">
            <a:extLst>
              <a:ext uri="{FF2B5EF4-FFF2-40B4-BE49-F238E27FC236}">
                <a16:creationId xmlns:a16="http://schemas.microsoft.com/office/drawing/2014/main" id="{D1E70CFD-5AF7-D84C-4835-119BC20B8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832" y="0"/>
            <a:ext cx="11724167" cy="66040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2" name="TextBox 1"/>
          <p:cNvSpPr txBox="1"/>
          <p:nvPr/>
        </p:nvSpPr>
        <p:spPr>
          <a:xfrm>
            <a:off x="789817" y="1271192"/>
            <a:ext cx="10213107" cy="822789"/>
          </a:xfrm>
          <a:prstGeom prst="rect">
            <a:avLst/>
          </a:prstGeom>
          <a:noFill/>
        </p:spPr>
        <p:txBody>
          <a:bodyPr wrap="square" rtlCol="0">
            <a:spAutoFit/>
          </a:bodyPr>
          <a:lstStyle/>
          <a:p>
            <a:pPr algn="just">
              <a:lnSpc>
                <a:spcPct val="200000"/>
              </a:lnSpc>
            </a:pPr>
            <a:r>
              <a:rPr lang="en-US" sz="2800" dirty="0">
                <a:latin typeface="Times New Roman" panose="02020603050405020304" pitchFamily="18" charset="0"/>
                <a:cs typeface="Times New Roman" panose="02020603050405020304" pitchFamily="18" charset="0"/>
              </a:rPr>
              <a:t>Query Performance Under Increasing Data Load</a:t>
            </a:r>
            <a:endParaRPr lang="en-US" sz="2800" b="1" dirty="0">
              <a:latin typeface="Times New Roman" panose="02020603050405020304" pitchFamily="18" charset="0"/>
              <a:cs typeface="Times New Roman" panose="02020603050405020304" pitchFamily="18" charset="0"/>
            </a:endParaRPr>
          </a:p>
        </p:txBody>
      </p:sp>
      <p:sp>
        <p:nvSpPr>
          <p:cNvPr id="14" name="Rectangle 13"/>
          <p:cNvSpPr/>
          <p:nvPr/>
        </p:nvSpPr>
        <p:spPr>
          <a:xfrm>
            <a:off x="-551305" y="427418"/>
            <a:ext cx="12192800" cy="646331"/>
          </a:xfrm>
          <a:prstGeom prst="rect">
            <a:avLst/>
          </a:prstGeom>
        </p:spPr>
        <p:txBody>
          <a:bodyPr wrap="square">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 SCALABILITY &amp; ANALYSIS PERFORMANCE</a:t>
            </a:r>
            <a:endParaRPr lang="en-US" sz="3600" b="1" dirty="0">
              <a:solidFill>
                <a:srgbClr val="C00000"/>
              </a:solidFill>
              <a:latin typeface="Times New Roman" panose="02020603050405020304" pitchFamily="18" charset="0"/>
              <a:ea typeface="Calibri"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A0F5563-C102-F575-89EF-916E8D0C426B}"/>
              </a:ext>
            </a:extLst>
          </p:cNvPr>
          <p:cNvGraphicFramePr>
            <a:graphicFrameLocks noGrp="1"/>
          </p:cNvGraphicFramePr>
          <p:nvPr>
            <p:extLst>
              <p:ext uri="{D42A27DB-BD31-4B8C-83A1-F6EECF244321}">
                <p14:modId xmlns:p14="http://schemas.microsoft.com/office/powerpoint/2010/main" val="3942272640"/>
              </p:ext>
            </p:extLst>
          </p:nvPr>
        </p:nvGraphicFramePr>
        <p:xfrm>
          <a:off x="914399" y="2146330"/>
          <a:ext cx="9144001" cy="4404941"/>
        </p:xfrm>
        <a:graphic>
          <a:graphicData uri="http://schemas.openxmlformats.org/drawingml/2006/table">
            <a:tbl>
              <a:tblPr firstRow="1" firstCol="1" bandRow="1">
                <a:tableStyleId>{5C22544A-7EE6-4342-B048-85BDC9FD1C3A}</a:tableStyleId>
              </a:tblPr>
              <a:tblGrid>
                <a:gridCol w="2736686">
                  <a:extLst>
                    <a:ext uri="{9D8B030D-6E8A-4147-A177-3AD203B41FA5}">
                      <a16:colId xmlns:a16="http://schemas.microsoft.com/office/drawing/2014/main" val="2774104191"/>
                    </a:ext>
                  </a:extLst>
                </a:gridCol>
                <a:gridCol w="2254118">
                  <a:extLst>
                    <a:ext uri="{9D8B030D-6E8A-4147-A177-3AD203B41FA5}">
                      <a16:colId xmlns:a16="http://schemas.microsoft.com/office/drawing/2014/main" val="123156248"/>
                    </a:ext>
                  </a:extLst>
                </a:gridCol>
                <a:gridCol w="1413854">
                  <a:extLst>
                    <a:ext uri="{9D8B030D-6E8A-4147-A177-3AD203B41FA5}">
                      <a16:colId xmlns:a16="http://schemas.microsoft.com/office/drawing/2014/main" val="1388170018"/>
                    </a:ext>
                  </a:extLst>
                </a:gridCol>
                <a:gridCol w="1281305">
                  <a:extLst>
                    <a:ext uri="{9D8B030D-6E8A-4147-A177-3AD203B41FA5}">
                      <a16:colId xmlns:a16="http://schemas.microsoft.com/office/drawing/2014/main" val="3325686901"/>
                    </a:ext>
                  </a:extLst>
                </a:gridCol>
                <a:gridCol w="1458038">
                  <a:extLst>
                    <a:ext uri="{9D8B030D-6E8A-4147-A177-3AD203B41FA5}">
                      <a16:colId xmlns:a16="http://schemas.microsoft.com/office/drawing/2014/main" val="420834763"/>
                    </a:ext>
                  </a:extLst>
                </a:gridCol>
              </a:tblGrid>
              <a:tr h="1011536">
                <a:tc>
                  <a:txBody>
                    <a:bodyPr/>
                    <a:lstStyle/>
                    <a:p>
                      <a:pPr>
                        <a:buNone/>
                      </a:pPr>
                      <a:r>
                        <a:rPr lang="en-IN" sz="1050">
                          <a:effectLst/>
                        </a:rPr>
                        <a:t>Model</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Accuracy</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Precision</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Recall</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F1-Score</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493456900"/>
                  </a:ext>
                </a:extLst>
              </a:tr>
              <a:tr h="1131135">
                <a:tc>
                  <a:txBody>
                    <a:bodyPr/>
                    <a:lstStyle/>
                    <a:p>
                      <a:pPr>
                        <a:buNone/>
                      </a:pPr>
                      <a:r>
                        <a:rPr lang="en-IN" sz="1050" dirty="0">
                          <a:effectLst/>
                        </a:rPr>
                        <a:t>Logistic Regression</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80.0%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1.00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0.56</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0.71</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2924834791"/>
                  </a:ext>
                </a:extLst>
              </a:tr>
              <a:tr h="1131135">
                <a:tc>
                  <a:txBody>
                    <a:bodyPr/>
                    <a:lstStyle/>
                    <a:p>
                      <a:pPr>
                        <a:buNone/>
                      </a:pPr>
                      <a:r>
                        <a:rPr lang="en-IN" sz="1050">
                          <a:effectLst/>
                        </a:rPr>
                        <a:t>Random Forest</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85.0%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1.00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0.67</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0.80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2490553610"/>
                  </a:ext>
                </a:extLst>
              </a:tr>
              <a:tr h="1131135">
                <a:tc>
                  <a:txBody>
                    <a:bodyPr/>
                    <a:lstStyle/>
                    <a:p>
                      <a:pPr>
                        <a:buNone/>
                      </a:pPr>
                      <a:r>
                        <a:rPr lang="en-IN" sz="1050">
                          <a:effectLst/>
                        </a:rPr>
                        <a:t>Gradient Boosting</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75.0%</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0.75</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a:effectLst/>
                        </a:rPr>
                        <a:t>0.67</a:t>
                      </a:r>
                      <a:endParaRPr lang="en-IN" sz="1000">
                        <a:effectLst/>
                        <a:latin typeface="Times New Roman" panose="02020603050405020304" pitchFamily="18" charset="0"/>
                        <a:ea typeface="Times New Roman" panose="02020603050405020304" pitchFamily="18" charset="0"/>
                      </a:endParaRPr>
                    </a:p>
                  </a:txBody>
                  <a:tcPr marL="63500" marR="63500" marT="50800" marB="50800" anchor="ctr"/>
                </a:tc>
                <a:tc>
                  <a:txBody>
                    <a:bodyPr/>
                    <a:lstStyle/>
                    <a:p>
                      <a:pPr>
                        <a:buNone/>
                      </a:pPr>
                      <a:r>
                        <a:rPr lang="en-IN" sz="1050" dirty="0">
                          <a:effectLst/>
                        </a:rPr>
                        <a:t>0.71</a:t>
                      </a:r>
                      <a:endParaRPr lang="en-IN" sz="1000" dirty="0">
                        <a:effectLst/>
                        <a:latin typeface="Times New Roman" panose="02020603050405020304" pitchFamily="18" charset="0"/>
                        <a:ea typeface="Times New Roman" panose="02020603050405020304" pitchFamily="18" charset="0"/>
                      </a:endParaRPr>
                    </a:p>
                  </a:txBody>
                  <a:tcPr marL="63500" marR="63500" marT="50800" marB="50800" anchor="ctr"/>
                </a:tc>
                <a:extLst>
                  <a:ext uri="{0D108BD9-81ED-4DB2-BD59-A6C34878D82A}">
                    <a16:rowId xmlns:a16="http://schemas.microsoft.com/office/drawing/2014/main" val="320041669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p:cNvSpPr/>
          <p:nvPr/>
        </p:nvSpPr>
        <p:spPr>
          <a:xfrm rot="10800000">
            <a:off x="9813851"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rot="5400000">
            <a:off x="-3195487" y="3194682"/>
            <a:ext cx="6858000" cy="468639"/>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550505" y="1072578"/>
            <a:ext cx="11641491" cy="646331"/>
          </a:xfrm>
          <a:prstGeom prst="rect">
            <a:avLst/>
          </a:prstGeom>
        </p:spPr>
        <p:txBody>
          <a:bodyPr wrap="square">
            <a:spAutoFit/>
          </a:bodyPr>
          <a:lstStyle/>
          <a:p>
            <a:endParaRPr lang="en-US" dirty="0"/>
          </a:p>
          <a:p>
            <a:r>
              <a:rPr lang="en-US" dirty="0"/>
              <a:t> </a:t>
            </a:r>
          </a:p>
        </p:txBody>
      </p:sp>
      <p:sp>
        <p:nvSpPr>
          <p:cNvPr id="14" name="Rectangle 13"/>
          <p:cNvSpPr/>
          <p:nvPr/>
        </p:nvSpPr>
        <p:spPr>
          <a:xfrm>
            <a:off x="345233" y="475861"/>
            <a:ext cx="11019454" cy="646331"/>
          </a:xfrm>
          <a:prstGeom prst="rect">
            <a:avLst/>
          </a:prstGeom>
        </p:spPr>
        <p:txBody>
          <a:bodyPr wrap="square">
            <a:spAutoFit/>
          </a:bodyPr>
          <a:lstStyle/>
          <a:p>
            <a:pPr algn="ctr"/>
            <a:r>
              <a:rPr lang="en-US" sz="3600" dirty="0">
                <a:solidFill>
                  <a:srgbClr val="C00000"/>
                </a:solidFill>
                <a:latin typeface="Times New Roman" panose="02020603050405020304" pitchFamily="18" charset="0"/>
                <a:cs typeface="Times New Roman" panose="02020603050405020304" pitchFamily="18" charset="0"/>
              </a:rPr>
              <a:t>CONCLUSION</a:t>
            </a:r>
            <a:r>
              <a:rPr lang="en-US" sz="3600" b="1" dirty="0">
                <a:solidFill>
                  <a:srgbClr val="C00000"/>
                </a:solidFill>
                <a:latin typeface="Times New Roman" panose="02020603050405020304" pitchFamily="18" charset="0"/>
                <a:ea typeface="Calibri" pitchFamily="34" charset="0"/>
                <a:cs typeface="Times New Roman" panose="02020603050405020304" pitchFamily="18" charset="0"/>
              </a:rPr>
              <a:t> </a:t>
            </a:r>
            <a:endParaRPr lang="en-US" sz="4000" b="1" dirty="0">
              <a:solidFill>
                <a:srgbClr val="C00000"/>
              </a:solidFill>
              <a:latin typeface="Times New Roman" panose="02020603050405020304" pitchFamily="18" charset="0"/>
              <a:ea typeface="Calibri" pitchFamily="34" charset="0"/>
              <a:cs typeface="Times New Roman" panose="02020603050405020304" pitchFamily="18" charset="0"/>
            </a:endParaRPr>
          </a:p>
        </p:txBody>
      </p:sp>
      <p:sp>
        <p:nvSpPr>
          <p:cNvPr id="2" name="TextBox 1"/>
          <p:cNvSpPr txBox="1"/>
          <p:nvPr/>
        </p:nvSpPr>
        <p:spPr>
          <a:xfrm>
            <a:off x="1142248" y="1791478"/>
            <a:ext cx="10213107" cy="568745"/>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endParaRPr lang="en-US" b="1" dirty="0">
              <a:latin typeface="Calibri" pitchFamily="34" charset="0"/>
              <a:cs typeface="Calibri" pitchFamily="34" charset="0"/>
            </a:endParaRPr>
          </a:p>
        </p:txBody>
      </p:sp>
      <p:sp>
        <p:nvSpPr>
          <p:cNvPr id="9" name="Rectangle 8"/>
          <p:cNvSpPr/>
          <p:nvPr/>
        </p:nvSpPr>
        <p:spPr>
          <a:xfrm>
            <a:off x="1184988" y="1446245"/>
            <a:ext cx="9386595" cy="3246530"/>
          </a:xfrm>
          <a:prstGeom prst="rect">
            <a:avLst/>
          </a:prstGeom>
        </p:spPr>
        <p:txBody>
          <a:bodyPr wrap="square">
            <a:spAutoFit/>
          </a:bodyPr>
          <a:lstStyle/>
          <a:p>
            <a:pPr algn="just">
              <a:lnSpc>
                <a:spcPct val="100000"/>
              </a:lnSpc>
            </a:pPr>
            <a:r>
              <a:rPr lang="en-IN" sz="2800" dirty="0">
                <a:latin typeface="Times New Roman" panose="02020603050405020304" pitchFamily="18" charset="0"/>
                <a:cs typeface="Times New Roman" panose="02020603050405020304" pitchFamily="18" charset="0"/>
              </a:rPr>
              <a:t>The project successfully predicts late delivery risk using machine learning. Among the three models, </a:t>
            </a:r>
            <a:r>
              <a:rPr lang="en-IN" sz="2800" b="1" dirty="0">
                <a:latin typeface="Times New Roman" panose="02020603050405020304" pitchFamily="18" charset="0"/>
                <a:cs typeface="Times New Roman" panose="02020603050405020304" pitchFamily="18" charset="0"/>
              </a:rPr>
              <a:t>Random Forest achieved the highest accuracy of 85%</a:t>
            </a:r>
            <a:r>
              <a:rPr lang="en-IN" sz="2800" dirty="0">
                <a:latin typeface="Times New Roman" panose="02020603050405020304" pitchFamily="18" charset="0"/>
                <a:cs typeface="Times New Roman" panose="02020603050405020304" pitchFamily="18" charset="0"/>
              </a:rPr>
              <a:t> and an </a:t>
            </a:r>
            <a:r>
              <a:rPr lang="en-IN" sz="2800" b="1" dirty="0">
                <a:latin typeface="Times New Roman" panose="02020603050405020304" pitchFamily="18" charset="0"/>
                <a:cs typeface="Times New Roman" panose="02020603050405020304" pitchFamily="18" charset="0"/>
              </a:rPr>
              <a:t>F1-score of 0.80</a:t>
            </a:r>
            <a:r>
              <a:rPr lang="en-IN" sz="2800" dirty="0">
                <a:latin typeface="Times New Roman" panose="02020603050405020304" pitchFamily="18" charset="0"/>
                <a:cs typeface="Times New Roman" panose="02020603050405020304" pitchFamily="18" charset="0"/>
              </a:rPr>
              <a:t>. The system can help identify risky deliveries before dispatch and support better decision-making in supply chain operations.</a:t>
            </a:r>
          </a:p>
          <a:p>
            <a:pPr algn="just">
              <a:lnSpc>
                <a:spcPct val="150000"/>
              </a:lnSpc>
            </a:pPr>
            <a:endParaRPr lang="en-US" altLang="en-US" sz="2800" dirty="0">
              <a:solidFill>
                <a:schemeClr val="tx1"/>
              </a:solidFill>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rot="5400000">
            <a:off x="-3195486" y="3194681"/>
            <a:ext cx="6858000" cy="468638"/>
          </a:xfrm>
          <a:prstGeom prst="rect">
            <a:avLst/>
          </a:prstGeom>
          <a:solidFill>
            <a:srgbClr val="632523"/>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467833" y="3429000"/>
            <a:ext cx="11724167" cy="830997"/>
          </a:xfrm>
          <a:prstGeom prst="rect">
            <a:avLst/>
          </a:prstGeom>
          <a:solidFill>
            <a:srgbClr val="632523"/>
          </a:solidFill>
          <a:ln>
            <a:solidFill>
              <a:srgbClr val="63252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518637" y="3429000"/>
            <a:ext cx="5622557" cy="830997"/>
          </a:xfrm>
          <a:prstGeom prst="rect">
            <a:avLst/>
          </a:prstGeom>
          <a:noFill/>
        </p:spPr>
        <p:txBody>
          <a:bodyPr wrap="square">
            <a:spAutoFit/>
          </a:bodyPr>
          <a:lstStyle/>
          <a:p>
            <a:pPr algn="ctr"/>
            <a:r>
              <a:rPr lang="en-US" sz="4800" dirty="0">
                <a:solidFill>
                  <a:srgbClr val="CA9749"/>
                </a:solidFill>
                <a:latin typeface="Lucida Handwriting" panose="03010101010101010101" pitchFamily="66" charset="0"/>
                <a:cs typeface="Cavolini" panose="020B0502040204020203" pitchFamily="66" charset="0"/>
              </a:rPr>
              <a:t>Thank you all</a:t>
            </a:r>
          </a:p>
        </p:txBody>
      </p:sp>
      <p:sp>
        <p:nvSpPr>
          <p:cNvPr id="13" name="Right Triangle 12"/>
          <p:cNvSpPr/>
          <p:nvPr/>
        </p:nvSpPr>
        <p:spPr>
          <a:xfrm rot="10800000">
            <a:off x="9813850" y="-3"/>
            <a:ext cx="2378147" cy="2264738"/>
          </a:xfrm>
          <a:prstGeom prst="rtTriangle">
            <a:avLst/>
          </a:prstGeom>
          <a:solidFill>
            <a:srgbClr val="5B1F1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6034</TotalTime>
  <Words>498</Words>
  <Application>Microsoft Office PowerPoint</Application>
  <PresentationFormat>Widescreen</PresentationFormat>
  <Paragraphs>83</Paragraphs>
  <Slides>11</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Aptos</vt:lpstr>
      <vt:lpstr>Aptos Display</vt:lpstr>
      <vt:lpstr>Arial</vt:lpstr>
      <vt:lpstr>Bodoni MT</vt:lpstr>
      <vt:lpstr>Calibri</vt:lpstr>
      <vt:lpstr>Lucida Handwriting</vt:lpstr>
      <vt:lpstr>Times New Roman</vt:lpstr>
      <vt:lpstr>Times New Roman Bold</vt:lpstr>
      <vt:lpstr>Times New Roman Regular</vt:lpstr>
      <vt:lpstr>Wingdings</vt:lpstr>
      <vt:lpstr>Office Theme</vt:lpstr>
      <vt:lpstr>1_Office Theme</vt:lpstr>
      <vt:lpstr>B.TECH IN CSE “Supply Chain Delivery Risk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Nagaraja, Bharath Kurki</dc:creator>
  <cp:lastModifiedBy>Kavitha P</cp:lastModifiedBy>
  <cp:revision>158</cp:revision>
  <dcterms:created xsi:type="dcterms:W3CDTF">2025-02-06T04:22:54Z</dcterms:created>
  <dcterms:modified xsi:type="dcterms:W3CDTF">2026-09-24T06:22:41Z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A3D6310EA75265D81E39A46775E3BB78_43</vt:lpwstr>
  </property>
  <property fmtid="{D5CDD505-2E9C-101B-9397-08002B2CF9AE}" pid="3" name="KSOProductBuildVer">
    <vt:lpwstr>1033-6.11.0.8615</vt:lpwstr>
  </property>
</Properties>
</file>